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5"/>
        <p:guide pos="38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/>
          <p:cNvGrpSpPr/>
          <p:nvPr/>
        </p:nvGrpSpPr>
        <p:grpSpPr>
          <a:xfrm>
            <a:off x="1841476" y="1089660"/>
            <a:ext cx="4598719" cy="1999615"/>
            <a:chOff x="9391" y="6851"/>
            <a:chExt cx="2360" cy="1944"/>
          </a:xfrm>
        </p:grpSpPr>
        <p:sp>
          <p:nvSpPr>
            <p:cNvPr id="43" name="矩形 42"/>
            <p:cNvSpPr/>
            <p:nvPr/>
          </p:nvSpPr>
          <p:spPr>
            <a:xfrm>
              <a:off x="9391" y="7341"/>
              <a:ext cx="916" cy="10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rgbClr val="FF0000"/>
                  </a:solidFill>
                  <a:sym typeface="+mn-ea"/>
                </a:rPr>
                <a:t>AA1</a:t>
              </a:r>
              <a:endParaRPr lang="en-US" altLang="zh-CN" sz="1200">
                <a:solidFill>
                  <a:srgbClr val="FF0000"/>
                </a:solidFill>
                <a:sym typeface="+mn-ea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835" y="7341"/>
              <a:ext cx="916" cy="10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400">
                  <a:solidFill>
                    <a:srgbClr val="FF0000"/>
                  </a:solidFill>
                  <a:sym typeface="+mn-ea"/>
                </a:rPr>
                <a:t>AA2</a:t>
              </a:r>
              <a:endParaRPr lang="en-US" altLang="zh-CN" sz="1400">
                <a:solidFill>
                  <a:srgbClr val="FF0000"/>
                </a:solidFill>
                <a:sym typeface="+mn-ea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 rot="5400000">
              <a:off x="9599" y="7559"/>
              <a:ext cx="1944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PO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869950" y="590550"/>
            <a:ext cx="127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简介</a:t>
            </a:r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184130" y="483235"/>
            <a:ext cx="426085" cy="1892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0184130" y="799465"/>
            <a:ext cx="426085" cy="18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0656570" y="408940"/>
            <a:ext cx="556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656570" y="73977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Poly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0183495" y="1115695"/>
            <a:ext cx="426720" cy="201295"/>
          </a:xfrm>
          <a:prstGeom prst="rect">
            <a:avLst/>
          </a:prstGeom>
          <a:solidFill>
            <a:schemeClr val="accent6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10656570" y="106616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6900" y="3429000"/>
            <a:ext cx="6944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AA</a:t>
            </a:r>
            <a:r>
              <a:rPr lang="zh-CN" altLang="en-US"/>
              <a:t>为有源层，</a:t>
            </a:r>
            <a:r>
              <a:rPr lang="en-US" altLang="zh-CN"/>
              <a:t>PO</a:t>
            </a:r>
            <a:r>
              <a:rPr lang="zh-CN" altLang="en-US"/>
              <a:t>为单晶硅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PO</a:t>
            </a:r>
            <a:r>
              <a:rPr lang="zh-CN" altLang="en-US"/>
              <a:t>可以贯穿</a:t>
            </a:r>
            <a:r>
              <a:rPr lang="en-US" altLang="zh-CN"/>
              <a:t>AA</a:t>
            </a:r>
            <a:r>
              <a:rPr lang="zh-CN" altLang="en-US"/>
              <a:t>，将</a:t>
            </a:r>
            <a:r>
              <a:rPr lang="en-US" altLang="zh-CN"/>
              <a:t>AA</a:t>
            </a:r>
            <a:r>
              <a:rPr lang="zh-CN" altLang="en-US"/>
              <a:t>分割，此时</a:t>
            </a:r>
            <a:r>
              <a:rPr lang="en-US" altLang="zh-CN"/>
              <a:t>PO</a:t>
            </a:r>
            <a:r>
              <a:rPr lang="zh-CN" altLang="en-US"/>
              <a:t>就相当于一个栅极</a:t>
            </a:r>
            <a:r>
              <a:rPr lang="zh-CN" altLang="en-US"/>
              <a:t>开关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当</a:t>
            </a:r>
            <a:r>
              <a:rPr lang="en-US" altLang="zh-CN"/>
              <a:t>PO</a:t>
            </a:r>
            <a:r>
              <a:rPr lang="zh-CN" altLang="en-US"/>
              <a:t>接高电平，</a:t>
            </a:r>
            <a:r>
              <a:rPr lang="en-US" altLang="zh-CN"/>
              <a:t>AA</a:t>
            </a:r>
            <a:r>
              <a:rPr lang="zh-CN" altLang="en-US"/>
              <a:t>两侧导通（</a:t>
            </a:r>
            <a:r>
              <a:rPr lang="en-US" altLang="zh-CN"/>
              <a:t>AA1-AA2</a:t>
            </a:r>
            <a:r>
              <a:rPr lang="zh-CN" altLang="en-US"/>
              <a:t>），低电平则</a:t>
            </a:r>
            <a:r>
              <a:rPr lang="zh-CN" altLang="en-US"/>
              <a:t>断开</a:t>
            </a:r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1181735" y="4870450"/>
            <a:ext cx="4914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</a:t>
            </a:r>
            <a:r>
              <a:rPr lang="zh-CN" altLang="en-US"/>
              <a:t>层和</a:t>
            </a:r>
            <a:r>
              <a:rPr lang="en-US" altLang="zh-CN"/>
              <a:t>AA</a:t>
            </a:r>
            <a:r>
              <a:rPr lang="zh-CN" altLang="en-US"/>
              <a:t>层不会在</a:t>
            </a:r>
            <a:r>
              <a:rPr lang="en-US" altLang="zh-CN"/>
              <a:t>Via</a:t>
            </a:r>
            <a:r>
              <a:rPr lang="zh-CN" altLang="en-US"/>
              <a:t>规则里定义为</a:t>
            </a:r>
            <a:r>
              <a:rPr lang="zh-CN" altLang="en-US"/>
              <a:t>联通</a:t>
            </a:r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7541895" y="3658870"/>
            <a:ext cx="43313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输入的版图文件中，若</a:t>
            </a:r>
            <a:r>
              <a:rPr lang="en-US" altLang="zh-CN">
                <a:solidFill>
                  <a:srgbClr val="FF0000"/>
                </a:solidFill>
              </a:rPr>
              <a:t>AA</a:t>
            </a:r>
            <a:r>
              <a:rPr lang="zh-CN" altLang="en-US">
                <a:solidFill>
                  <a:srgbClr val="FF0000"/>
                </a:solidFill>
              </a:rPr>
              <a:t>层的多边形</a:t>
            </a:r>
            <a:r>
              <a:rPr lang="en-US" altLang="zh-CN">
                <a:solidFill>
                  <a:srgbClr val="FF0000"/>
                </a:solidFill>
              </a:rPr>
              <a:t>P1</a:t>
            </a:r>
            <a:r>
              <a:rPr lang="zh-CN" altLang="en-US">
                <a:solidFill>
                  <a:srgbClr val="FF0000"/>
                </a:solidFill>
              </a:rPr>
              <a:t>与</a:t>
            </a:r>
            <a:r>
              <a:rPr lang="en-US" altLang="zh-CN">
                <a:solidFill>
                  <a:srgbClr val="FF0000"/>
                </a:solidFill>
              </a:rPr>
              <a:t>Poly</a:t>
            </a:r>
            <a:r>
              <a:rPr lang="zh-CN" altLang="en-US">
                <a:solidFill>
                  <a:srgbClr val="FF0000"/>
                </a:solidFill>
              </a:rPr>
              <a:t>层的多边形</a:t>
            </a:r>
            <a:r>
              <a:rPr lang="en-US" altLang="zh-CN">
                <a:solidFill>
                  <a:srgbClr val="FF0000"/>
                </a:solidFill>
              </a:rPr>
              <a:t>P2</a:t>
            </a:r>
            <a:r>
              <a:rPr lang="zh-CN" altLang="en-US">
                <a:solidFill>
                  <a:srgbClr val="FF0000"/>
                </a:solidFill>
              </a:rPr>
              <a:t>相交，则</a:t>
            </a:r>
            <a:r>
              <a:rPr lang="en-US" altLang="zh-CN">
                <a:solidFill>
                  <a:srgbClr val="FF0000"/>
                </a:solidFill>
              </a:rPr>
              <a:t>P2</a:t>
            </a:r>
            <a:r>
              <a:rPr lang="zh-CN" altLang="en-US">
                <a:solidFill>
                  <a:srgbClr val="FF0000"/>
                </a:solidFill>
              </a:rPr>
              <a:t>必定贯穿</a:t>
            </a:r>
            <a:r>
              <a:rPr lang="en-US" altLang="zh-CN">
                <a:solidFill>
                  <a:srgbClr val="FF0000"/>
                </a:solidFill>
              </a:rPr>
              <a:t>P1</a:t>
            </a:r>
            <a:r>
              <a:rPr lang="zh-CN" altLang="en-US">
                <a:solidFill>
                  <a:srgbClr val="FF0000"/>
                </a:solidFill>
              </a:rPr>
              <a:t>，即</a:t>
            </a:r>
            <a:r>
              <a:rPr lang="en-US" altLang="zh-CN">
                <a:solidFill>
                  <a:srgbClr val="FF0000"/>
                </a:solidFill>
              </a:rPr>
              <a:t>P2</a:t>
            </a:r>
            <a:r>
              <a:rPr lang="zh-CN" altLang="en-US">
                <a:solidFill>
                  <a:srgbClr val="FF0000"/>
                </a:solidFill>
              </a:rPr>
              <a:t>必定可以将</a:t>
            </a:r>
            <a:r>
              <a:rPr lang="en-US" altLang="zh-CN">
                <a:solidFill>
                  <a:srgbClr val="FF0000"/>
                </a:solidFill>
              </a:rPr>
              <a:t>P1</a:t>
            </a:r>
            <a:r>
              <a:rPr lang="zh-CN" altLang="en-US">
                <a:solidFill>
                  <a:srgbClr val="FF0000"/>
                </a:solidFill>
              </a:rPr>
              <a:t>划分成两部分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输入保证重叠的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PO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合并后与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AA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的贯穿区域一定是矩形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132205" y="1624965"/>
            <a:ext cx="1189355" cy="1868170"/>
            <a:chOff x="1134" y="1696"/>
            <a:chExt cx="4414" cy="5850"/>
          </a:xfrm>
        </p:grpSpPr>
        <p:sp>
          <p:nvSpPr>
            <p:cNvPr id="9" name="任意多边形 8"/>
            <p:cNvSpPr/>
            <p:nvPr/>
          </p:nvSpPr>
          <p:spPr>
            <a:xfrm>
              <a:off x="1134" y="2525"/>
              <a:ext cx="4414" cy="441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14" h="4414">
                  <a:moveTo>
                    <a:pt x="0" y="0"/>
                  </a:moveTo>
                  <a:lnTo>
                    <a:pt x="1036" y="0"/>
                  </a:lnTo>
                  <a:lnTo>
                    <a:pt x="4414" y="0"/>
                  </a:lnTo>
                  <a:lnTo>
                    <a:pt x="4414" y="1036"/>
                  </a:lnTo>
                  <a:lnTo>
                    <a:pt x="1036" y="1036"/>
                  </a:lnTo>
                  <a:lnTo>
                    <a:pt x="1036" y="3378"/>
                  </a:lnTo>
                  <a:lnTo>
                    <a:pt x="4414" y="3378"/>
                  </a:lnTo>
                  <a:lnTo>
                    <a:pt x="4414" y="4414"/>
                  </a:lnTo>
                  <a:lnTo>
                    <a:pt x="1036" y="4414"/>
                  </a:lnTo>
                  <a:lnTo>
                    <a:pt x="0" y="4414"/>
                  </a:lnTo>
                  <a:lnTo>
                    <a:pt x="0" y="3378"/>
                  </a:lnTo>
                  <a:lnTo>
                    <a:pt x="0" y="10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 rot="5400000">
              <a:off x="860" y="3992"/>
              <a:ext cx="5850" cy="125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94455" y="1739265"/>
            <a:ext cx="1620520" cy="1516380"/>
            <a:chOff x="4313" y="1459"/>
            <a:chExt cx="2552" cy="2388"/>
          </a:xfrm>
        </p:grpSpPr>
        <p:sp>
          <p:nvSpPr>
            <p:cNvPr id="18" name="矩形 17"/>
            <p:cNvSpPr/>
            <p:nvPr/>
          </p:nvSpPr>
          <p:spPr>
            <a:xfrm>
              <a:off x="4313" y="2170"/>
              <a:ext cx="2552" cy="10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5400000">
              <a:off x="4121" y="2389"/>
              <a:ext cx="2389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 rot="5400000">
              <a:off x="5069" y="2392"/>
              <a:ext cx="1353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617970" y="1782445"/>
            <a:ext cx="1620520" cy="1516380"/>
            <a:chOff x="8022" y="1527"/>
            <a:chExt cx="2552" cy="2388"/>
          </a:xfrm>
        </p:grpSpPr>
        <p:sp>
          <p:nvSpPr>
            <p:cNvPr id="21" name="矩形 20"/>
            <p:cNvSpPr/>
            <p:nvPr/>
          </p:nvSpPr>
          <p:spPr>
            <a:xfrm>
              <a:off x="8022" y="2180"/>
              <a:ext cx="2552" cy="10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5400000">
              <a:off x="7517" y="2457"/>
              <a:ext cx="2389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 rot="5400000">
              <a:off x="8676" y="2457"/>
              <a:ext cx="2389" cy="52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7" name="任意多边形 26"/>
          <p:cNvSpPr/>
          <p:nvPr/>
        </p:nvSpPr>
        <p:spPr>
          <a:xfrm>
            <a:off x="9430385" y="1909445"/>
            <a:ext cx="1287145" cy="1229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27" h="1937">
                <a:moveTo>
                  <a:pt x="0" y="0"/>
                </a:moveTo>
                <a:lnTo>
                  <a:pt x="636" y="0"/>
                </a:lnTo>
                <a:lnTo>
                  <a:pt x="636" y="1454"/>
                </a:lnTo>
                <a:lnTo>
                  <a:pt x="2027" y="1454"/>
                </a:lnTo>
                <a:lnTo>
                  <a:pt x="2027" y="1937"/>
                </a:lnTo>
                <a:lnTo>
                  <a:pt x="636" y="1937"/>
                </a:lnTo>
                <a:lnTo>
                  <a:pt x="3" y="1937"/>
                </a:lnTo>
                <a:lnTo>
                  <a:pt x="0" y="19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 rot="5400000">
            <a:off x="9203055" y="2363470"/>
            <a:ext cx="1603375" cy="335280"/>
          </a:xfrm>
          <a:prstGeom prst="rect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5037455" y="4375150"/>
            <a:ext cx="1620520" cy="1517015"/>
            <a:chOff x="4313" y="1459"/>
            <a:chExt cx="2552" cy="2389"/>
          </a:xfrm>
        </p:grpSpPr>
        <p:sp>
          <p:nvSpPr>
            <p:cNvPr id="33" name="矩形 32"/>
            <p:cNvSpPr/>
            <p:nvPr/>
          </p:nvSpPr>
          <p:spPr>
            <a:xfrm>
              <a:off x="4313" y="2170"/>
              <a:ext cx="2552" cy="10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 rot="5400000">
              <a:off x="4336" y="2174"/>
              <a:ext cx="2389" cy="958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 rot="5400000">
              <a:off x="5368" y="2453"/>
              <a:ext cx="549" cy="31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任意多边形 36"/>
          <p:cNvSpPr/>
          <p:nvPr/>
        </p:nvSpPr>
        <p:spPr>
          <a:xfrm>
            <a:off x="2199005" y="4413250"/>
            <a:ext cx="1189355" cy="14097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14" h="4414">
                <a:moveTo>
                  <a:pt x="0" y="0"/>
                </a:moveTo>
                <a:lnTo>
                  <a:pt x="1036" y="0"/>
                </a:lnTo>
                <a:lnTo>
                  <a:pt x="4414" y="0"/>
                </a:lnTo>
                <a:lnTo>
                  <a:pt x="4414" y="1036"/>
                </a:lnTo>
                <a:lnTo>
                  <a:pt x="1036" y="1036"/>
                </a:lnTo>
                <a:lnTo>
                  <a:pt x="1036" y="3378"/>
                </a:lnTo>
                <a:lnTo>
                  <a:pt x="4414" y="3378"/>
                </a:lnTo>
                <a:lnTo>
                  <a:pt x="4414" y="4414"/>
                </a:lnTo>
                <a:lnTo>
                  <a:pt x="1036" y="4414"/>
                </a:lnTo>
                <a:lnTo>
                  <a:pt x="0" y="4414"/>
                </a:lnTo>
                <a:lnTo>
                  <a:pt x="0" y="3378"/>
                </a:lnTo>
                <a:lnTo>
                  <a:pt x="0" y="10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任意多边形 38"/>
          <p:cNvSpPr/>
          <p:nvPr/>
        </p:nvSpPr>
        <p:spPr>
          <a:xfrm rot="10800000">
            <a:off x="2576513" y="4272598"/>
            <a:ext cx="641220" cy="16929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10" h="2666">
                <a:moveTo>
                  <a:pt x="0" y="0"/>
                </a:moveTo>
                <a:lnTo>
                  <a:pt x="343" y="0"/>
                </a:lnTo>
                <a:lnTo>
                  <a:pt x="343" y="1167"/>
                </a:lnTo>
                <a:lnTo>
                  <a:pt x="667" y="1167"/>
                </a:lnTo>
                <a:lnTo>
                  <a:pt x="667" y="1166"/>
                </a:lnTo>
                <a:lnTo>
                  <a:pt x="1010" y="1166"/>
                </a:lnTo>
                <a:lnTo>
                  <a:pt x="1010" y="2666"/>
                </a:lnTo>
                <a:lnTo>
                  <a:pt x="667" y="2666"/>
                </a:lnTo>
                <a:lnTo>
                  <a:pt x="667" y="1510"/>
                </a:lnTo>
                <a:lnTo>
                  <a:pt x="343" y="1510"/>
                </a:lnTo>
                <a:lnTo>
                  <a:pt x="343" y="1511"/>
                </a:ln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341995" y="4813935"/>
            <a:ext cx="581660" cy="640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AA1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276715" y="4813935"/>
            <a:ext cx="581660" cy="640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>
                <a:solidFill>
                  <a:srgbClr val="FF0000"/>
                </a:solidFill>
                <a:sym typeface="+mn-ea"/>
              </a:rPr>
              <a:t>AA2</a:t>
            </a:r>
            <a:endParaRPr lang="en-US" altLang="zh-CN" sz="1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 rot="5400000">
            <a:off x="8482965" y="4952365"/>
            <a:ext cx="1234440" cy="335280"/>
          </a:xfrm>
          <a:prstGeom prst="rect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869950" y="590550"/>
            <a:ext cx="127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切割</a:t>
            </a:r>
            <a:r>
              <a:rPr lang="zh-CN" altLang="en-US"/>
              <a:t>情况</a:t>
            </a:r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184130" y="483235"/>
            <a:ext cx="426085" cy="1892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0184130" y="799465"/>
            <a:ext cx="426085" cy="18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0656570" y="408940"/>
            <a:ext cx="556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656570" y="73977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Poly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0183495" y="1115695"/>
            <a:ext cx="426720" cy="201295"/>
          </a:xfrm>
          <a:prstGeom prst="rect">
            <a:avLst/>
          </a:prstGeom>
          <a:solidFill>
            <a:schemeClr val="accent6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10656570" y="106616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7205" y="3617595"/>
            <a:ext cx="2635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(a)PO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切割成多个图形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08400" y="3613785"/>
            <a:ext cx="2389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</a:t>
            </a:r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被多个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贯穿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34150" y="3626485"/>
            <a:ext cx="2389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多个贯穿共同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32545" y="3604895"/>
            <a:ext cx="2389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(d)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与边部分重合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的贯穿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41195" y="6157595"/>
            <a:ext cx="1767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拐弯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多次贯穿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1755" y="6157595"/>
            <a:ext cx="1767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嵌套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93025" y="6012815"/>
            <a:ext cx="29000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(g)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不存在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没有切开一个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但是有两个图形都在他的边上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84130" y="483235"/>
            <a:ext cx="426085" cy="1892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84130" y="799465"/>
            <a:ext cx="426085" cy="18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56570" y="408940"/>
            <a:ext cx="556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656570" y="73977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Poly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82700" y="2107565"/>
            <a:ext cx="3004185" cy="2808605"/>
            <a:chOff x="7788" y="2074"/>
            <a:chExt cx="2552" cy="2386"/>
          </a:xfrm>
        </p:grpSpPr>
        <p:grpSp>
          <p:nvGrpSpPr>
            <p:cNvPr id="46" name="组合 45"/>
            <p:cNvGrpSpPr/>
            <p:nvPr/>
          </p:nvGrpSpPr>
          <p:grpSpPr>
            <a:xfrm>
              <a:off x="7788" y="2074"/>
              <a:ext cx="2552" cy="1913"/>
              <a:chOff x="8022" y="1527"/>
              <a:chExt cx="2552" cy="1913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8022" y="2180"/>
                <a:ext cx="2552" cy="10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 rot="5400000">
                <a:off x="8341" y="2219"/>
                <a:ext cx="1913" cy="52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1" name="矩形 50"/>
            <p:cNvSpPr/>
            <p:nvPr/>
          </p:nvSpPr>
          <p:spPr>
            <a:xfrm rot="5400000">
              <a:off x="8552" y="3790"/>
              <a:ext cx="1023" cy="319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10183495" y="1115695"/>
            <a:ext cx="426720" cy="201295"/>
          </a:xfrm>
          <a:prstGeom prst="rect">
            <a:avLst/>
          </a:prstGeom>
          <a:solidFill>
            <a:schemeClr val="accent6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0656570" y="106616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67300" y="3441065"/>
            <a:ext cx="65779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如果起点在</a:t>
            </a:r>
            <a:r>
              <a:rPr lang="en-US" altLang="zh-CN"/>
              <a:t>PO</a:t>
            </a:r>
            <a:r>
              <a:rPr lang="zh-CN" altLang="en-US"/>
              <a:t>层，并且</a:t>
            </a:r>
            <a:r>
              <a:rPr lang="en-US" altLang="zh-CN"/>
              <a:t>PO</a:t>
            </a:r>
            <a:r>
              <a:rPr lang="zh-CN" altLang="en-US"/>
              <a:t>和</a:t>
            </a:r>
            <a:r>
              <a:rPr lang="en-US" altLang="zh-CN"/>
              <a:t>CT</a:t>
            </a:r>
            <a:r>
              <a:rPr lang="zh-CN" altLang="en-US"/>
              <a:t>相连，这个图形是算的，如果起点在</a:t>
            </a:r>
            <a:r>
              <a:rPr lang="en-US" altLang="zh-CN"/>
              <a:t>AA</a:t>
            </a:r>
            <a:r>
              <a:rPr lang="zh-CN" altLang="en-US"/>
              <a:t>层，</a:t>
            </a:r>
            <a:r>
              <a:rPr lang="en-US" altLang="zh-CN"/>
              <a:t>AA</a:t>
            </a:r>
            <a:r>
              <a:rPr lang="zh-CN" altLang="en-US"/>
              <a:t>与</a:t>
            </a:r>
            <a:r>
              <a:rPr lang="en-US" altLang="zh-CN"/>
              <a:t>CT</a:t>
            </a:r>
            <a:r>
              <a:rPr lang="zh-CN" altLang="en-US"/>
              <a:t>相连，这个图形不算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起点</a:t>
            </a:r>
            <a:r>
              <a:rPr lang="en-US" altLang="zh-CN">
                <a:sym typeface="+mn-ea"/>
              </a:rPr>
              <a:t>s1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s2</a:t>
            </a:r>
            <a:r>
              <a:rPr lang="zh-CN" altLang="en-US">
                <a:sym typeface="+mn-ea"/>
              </a:rPr>
              <a:t>都满足上述</a:t>
            </a:r>
            <a:r>
              <a:rPr lang="zh-CN" altLang="en-US">
                <a:sym typeface="+mn-ea"/>
              </a:rPr>
              <a:t>规则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可以理解成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PO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将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AA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切开，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AA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与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PO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重叠的区域被切掉后不参与连接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69950" y="755650"/>
            <a:ext cx="193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相交区域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441950" y="2584450"/>
            <a:ext cx="5320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AA</a:t>
            </a:r>
            <a:r>
              <a:rPr lang="zh-CN" altLang="en-US"/>
              <a:t>和</a:t>
            </a:r>
            <a:r>
              <a:rPr lang="en-US" altLang="zh-CN"/>
              <a:t>PO</a:t>
            </a:r>
            <a:r>
              <a:rPr lang="zh-CN" altLang="en-US"/>
              <a:t>层的图形的重合区域，如果有图形（如</a:t>
            </a:r>
            <a:r>
              <a:rPr lang="en-US" altLang="zh-CN"/>
              <a:t>CT</a:t>
            </a:r>
            <a:r>
              <a:rPr lang="zh-CN" altLang="en-US"/>
              <a:t>）与他有连接，这个图形算吗？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82850" y="2851150"/>
            <a:ext cx="609600" cy="120650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82700" y="2892425"/>
            <a:ext cx="556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33650" y="2119630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O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71115" y="4481830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84130" y="483235"/>
            <a:ext cx="426085" cy="1892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84130" y="799465"/>
            <a:ext cx="426085" cy="18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56570" y="408940"/>
            <a:ext cx="556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656570" y="73977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Poly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0183495" y="1115695"/>
            <a:ext cx="426720" cy="201295"/>
          </a:xfrm>
          <a:prstGeom prst="rect">
            <a:avLst/>
          </a:prstGeom>
          <a:solidFill>
            <a:schemeClr val="accent6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0656570" y="106616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38530" y="799465"/>
            <a:ext cx="193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Q3</a:t>
            </a:r>
            <a:r>
              <a:rPr lang="zh-CN" altLang="en-US"/>
              <a:t>整体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38750" y="1788160"/>
            <a:ext cx="461518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）使用</a:t>
            </a:r>
            <a:r>
              <a:rPr lang="en-US" altLang="zh-CN"/>
              <a:t>PO</a:t>
            </a:r>
            <a:r>
              <a:rPr lang="zh-CN" altLang="en-US"/>
              <a:t>层多边形对</a:t>
            </a:r>
            <a:r>
              <a:rPr lang="en-US" altLang="zh-CN"/>
              <a:t>AA</a:t>
            </a:r>
            <a:r>
              <a:rPr lang="zh-CN" altLang="en-US"/>
              <a:t>层多边形切割，生成新的多边形替换原多边形（被切掉的部分直接</a:t>
            </a:r>
            <a:r>
              <a:rPr lang="zh-CN" altLang="en-US"/>
              <a:t>丢弃）；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）记录可能的连接性集合</a:t>
            </a:r>
            <a:r>
              <a:rPr lang="en-US" altLang="zh-CN"/>
              <a:t>S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AA1-PO1-AA2,</a:t>
            </a:r>
            <a:endParaRPr lang="en-US" altLang="zh-CN"/>
          </a:p>
          <a:p>
            <a:r>
              <a:rPr lang="en-US" altLang="zh-CN">
                <a:sym typeface="+mn-ea"/>
              </a:rPr>
              <a:t>AA1-PO1-AA3,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AA2-PO1-AA3</a:t>
            </a:r>
            <a:r>
              <a:rPr lang="zh-CN" altLang="en-US">
                <a:sym typeface="+mn-ea"/>
              </a:rPr>
              <a:t>；</a:t>
            </a:r>
            <a:endParaRPr lang="en-US" altLang="zh-CN">
              <a:sym typeface="+mn-ea"/>
            </a:endParaRPr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）执行相交检测</a:t>
            </a:r>
            <a:r>
              <a:rPr lang="zh-CN" altLang="en-US"/>
              <a:t>建图；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）从起点</a:t>
            </a:r>
            <a:r>
              <a:rPr lang="en-US" altLang="zh-CN"/>
              <a:t>s2</a:t>
            </a:r>
            <a:r>
              <a:rPr lang="zh-CN" altLang="en-US"/>
              <a:t>开始，通过联通性找到所有</a:t>
            </a:r>
            <a:r>
              <a:rPr lang="zh-CN" altLang="en-US">
                <a:sym typeface="+mn-ea"/>
              </a:rPr>
              <a:t>高电平</a:t>
            </a:r>
            <a:r>
              <a:rPr lang="en-US" altLang="zh-CN"/>
              <a:t>PO</a:t>
            </a:r>
            <a:r>
              <a:rPr lang="zh-CN" altLang="en-US"/>
              <a:t>层图形，剩下不与</a:t>
            </a:r>
            <a:r>
              <a:rPr lang="en-US" altLang="zh-CN"/>
              <a:t>s2</a:t>
            </a:r>
            <a:r>
              <a:rPr lang="zh-CN" altLang="en-US"/>
              <a:t>联通的</a:t>
            </a:r>
            <a:r>
              <a:rPr lang="en-US" altLang="zh-CN"/>
              <a:t>PO</a:t>
            </a:r>
            <a:r>
              <a:rPr lang="zh-CN" altLang="en-US"/>
              <a:t>层图形</a:t>
            </a:r>
            <a:r>
              <a:rPr lang="zh-CN" altLang="en-US"/>
              <a:t>为低电平；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）遍历集合</a:t>
            </a:r>
            <a:r>
              <a:rPr lang="en-US" altLang="zh-CN"/>
              <a:t>S</a:t>
            </a:r>
            <a:r>
              <a:rPr lang="zh-CN" altLang="en-US"/>
              <a:t>，若其</a:t>
            </a:r>
            <a:r>
              <a:rPr lang="en-US" altLang="zh-CN"/>
              <a:t>PO</a:t>
            </a:r>
            <a:r>
              <a:rPr lang="zh-CN" altLang="en-US"/>
              <a:t>为高电平，则连接性存在，图增加一条边，否则</a:t>
            </a:r>
            <a:r>
              <a:rPr lang="zh-CN" altLang="en-US"/>
              <a:t>无需理会；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）从起点</a:t>
            </a:r>
            <a:r>
              <a:rPr lang="en-US" altLang="zh-CN"/>
              <a:t>s2</a:t>
            </a:r>
            <a:r>
              <a:rPr lang="zh-CN" altLang="en-US"/>
              <a:t>开始执行</a:t>
            </a:r>
            <a:r>
              <a:rPr lang="en-US" altLang="zh-CN"/>
              <a:t>Q2.</a:t>
            </a:r>
            <a:endParaRPr lang="en-US" altLang="zh-CN"/>
          </a:p>
        </p:txBody>
      </p:sp>
      <p:grpSp>
        <p:nvGrpSpPr>
          <p:cNvPr id="28" name="组合 27"/>
          <p:cNvGrpSpPr/>
          <p:nvPr/>
        </p:nvGrpSpPr>
        <p:grpSpPr>
          <a:xfrm>
            <a:off x="1470660" y="2056765"/>
            <a:ext cx="3258820" cy="3255010"/>
            <a:chOff x="1914" y="2626"/>
            <a:chExt cx="5815" cy="5786"/>
          </a:xfrm>
        </p:grpSpPr>
        <p:sp>
          <p:nvSpPr>
            <p:cNvPr id="37" name="任意多边形 36"/>
            <p:cNvSpPr/>
            <p:nvPr/>
          </p:nvSpPr>
          <p:spPr>
            <a:xfrm>
              <a:off x="1914" y="3111"/>
              <a:ext cx="5513" cy="481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73" h="2220">
                  <a:moveTo>
                    <a:pt x="1604" y="1699"/>
                  </a:moveTo>
                  <a:lnTo>
                    <a:pt x="1873" y="1699"/>
                  </a:lnTo>
                  <a:lnTo>
                    <a:pt x="1873" y="2220"/>
                  </a:lnTo>
                  <a:lnTo>
                    <a:pt x="1604" y="2220"/>
                  </a:lnTo>
                  <a:lnTo>
                    <a:pt x="1604" y="1699"/>
                  </a:lnTo>
                  <a:close/>
                  <a:moveTo>
                    <a:pt x="937" y="0"/>
                  </a:moveTo>
                  <a:lnTo>
                    <a:pt x="1873" y="0"/>
                  </a:lnTo>
                  <a:lnTo>
                    <a:pt x="1873" y="521"/>
                  </a:lnTo>
                  <a:lnTo>
                    <a:pt x="937" y="521"/>
                  </a:lnTo>
                  <a:lnTo>
                    <a:pt x="937" y="0"/>
                  </a:lnTo>
                  <a:close/>
                  <a:moveTo>
                    <a:pt x="0" y="0"/>
                  </a:moveTo>
                  <a:lnTo>
                    <a:pt x="440" y="0"/>
                  </a:lnTo>
                  <a:lnTo>
                    <a:pt x="595" y="0"/>
                  </a:lnTo>
                  <a:lnTo>
                    <a:pt x="595" y="521"/>
                  </a:lnTo>
                  <a:lnTo>
                    <a:pt x="440" y="521"/>
                  </a:lnTo>
                  <a:lnTo>
                    <a:pt x="440" y="1699"/>
                  </a:lnTo>
                  <a:lnTo>
                    <a:pt x="1261" y="1699"/>
                  </a:lnTo>
                  <a:lnTo>
                    <a:pt x="1261" y="2220"/>
                  </a:lnTo>
                  <a:lnTo>
                    <a:pt x="440" y="2220"/>
                  </a:lnTo>
                  <a:lnTo>
                    <a:pt x="0" y="2220"/>
                  </a:lnTo>
                  <a:lnTo>
                    <a:pt x="0" y="1699"/>
                  </a:lnTo>
                  <a:lnTo>
                    <a:pt x="0" y="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 rot="10800000">
              <a:off x="3664" y="2626"/>
              <a:ext cx="2972" cy="5786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10" h="2666">
                  <a:moveTo>
                    <a:pt x="0" y="0"/>
                  </a:moveTo>
                  <a:lnTo>
                    <a:pt x="343" y="0"/>
                  </a:lnTo>
                  <a:lnTo>
                    <a:pt x="343" y="1167"/>
                  </a:lnTo>
                  <a:lnTo>
                    <a:pt x="667" y="1167"/>
                  </a:lnTo>
                  <a:lnTo>
                    <a:pt x="667" y="1166"/>
                  </a:lnTo>
                  <a:lnTo>
                    <a:pt x="1010" y="1166"/>
                  </a:lnTo>
                  <a:lnTo>
                    <a:pt x="1010" y="2666"/>
                  </a:lnTo>
                  <a:lnTo>
                    <a:pt x="667" y="2666"/>
                  </a:lnTo>
                  <a:lnTo>
                    <a:pt x="667" y="1510"/>
                  </a:lnTo>
                  <a:lnTo>
                    <a:pt x="343" y="1510"/>
                  </a:lnTo>
                  <a:lnTo>
                    <a:pt x="343" y="1511"/>
                  </a:lnTo>
                  <a:lnTo>
                    <a:pt x="0" y="1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34" y="5229"/>
              <a:ext cx="1100" cy="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AA1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354" y="3369"/>
              <a:ext cx="1100" cy="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AA2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526" y="7049"/>
              <a:ext cx="1203" cy="5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AA3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414" y="5229"/>
              <a:ext cx="1298" cy="5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PO1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84130" y="483235"/>
            <a:ext cx="426085" cy="1892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84130" y="799465"/>
            <a:ext cx="426085" cy="18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56570" y="408940"/>
            <a:ext cx="556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656570" y="73977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Poly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0183495" y="1115695"/>
            <a:ext cx="426720" cy="201295"/>
          </a:xfrm>
          <a:prstGeom prst="rect">
            <a:avLst/>
          </a:prstGeom>
          <a:solidFill>
            <a:schemeClr val="accent6">
              <a:lumMod val="40000"/>
              <a:lumOff val="6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0656570" y="1066165"/>
            <a:ext cx="86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38530" y="799465"/>
            <a:ext cx="193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切割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467350" y="321627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）对于</a:t>
            </a:r>
            <a:r>
              <a:rPr lang="en-US" altLang="zh-CN"/>
              <a:t>PO</a:t>
            </a:r>
            <a:r>
              <a:rPr lang="zh-CN" altLang="en-US"/>
              <a:t>层，找出内部重叠的，进行合并，可能有多个一起</a:t>
            </a:r>
            <a:r>
              <a:rPr lang="zh-CN" altLang="en-US"/>
              <a:t>重叠？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）对于</a:t>
            </a:r>
            <a:r>
              <a:rPr lang="en-US" altLang="zh-CN"/>
              <a:t>AA</a:t>
            </a:r>
            <a:r>
              <a:rPr lang="zh-CN" altLang="en-US"/>
              <a:t>层如何切割？求差</a:t>
            </a:r>
            <a:r>
              <a:rPr lang="zh-CN" altLang="en-US"/>
              <a:t>集？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）对曼哈顿多边形，是否有更好</a:t>
            </a:r>
            <a:r>
              <a:rPr lang="zh-CN" altLang="en-US"/>
              <a:t>办法？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470660" y="2056765"/>
            <a:ext cx="3258820" cy="3255010"/>
            <a:chOff x="1914" y="2626"/>
            <a:chExt cx="5815" cy="5786"/>
          </a:xfrm>
        </p:grpSpPr>
        <p:sp>
          <p:nvSpPr>
            <p:cNvPr id="37" name="任意多边形 36"/>
            <p:cNvSpPr/>
            <p:nvPr/>
          </p:nvSpPr>
          <p:spPr>
            <a:xfrm>
              <a:off x="1914" y="3111"/>
              <a:ext cx="5513" cy="481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73" h="2220">
                  <a:moveTo>
                    <a:pt x="1604" y="1699"/>
                  </a:moveTo>
                  <a:lnTo>
                    <a:pt x="1873" y="1699"/>
                  </a:lnTo>
                  <a:lnTo>
                    <a:pt x="1873" y="2220"/>
                  </a:lnTo>
                  <a:lnTo>
                    <a:pt x="1604" y="2220"/>
                  </a:lnTo>
                  <a:lnTo>
                    <a:pt x="1604" y="1699"/>
                  </a:lnTo>
                  <a:close/>
                  <a:moveTo>
                    <a:pt x="937" y="0"/>
                  </a:moveTo>
                  <a:lnTo>
                    <a:pt x="1873" y="0"/>
                  </a:lnTo>
                  <a:lnTo>
                    <a:pt x="1873" y="521"/>
                  </a:lnTo>
                  <a:lnTo>
                    <a:pt x="937" y="521"/>
                  </a:lnTo>
                  <a:lnTo>
                    <a:pt x="937" y="0"/>
                  </a:lnTo>
                  <a:close/>
                  <a:moveTo>
                    <a:pt x="0" y="0"/>
                  </a:moveTo>
                  <a:lnTo>
                    <a:pt x="440" y="0"/>
                  </a:lnTo>
                  <a:lnTo>
                    <a:pt x="595" y="0"/>
                  </a:lnTo>
                  <a:lnTo>
                    <a:pt x="595" y="521"/>
                  </a:lnTo>
                  <a:lnTo>
                    <a:pt x="440" y="521"/>
                  </a:lnTo>
                  <a:lnTo>
                    <a:pt x="440" y="1699"/>
                  </a:lnTo>
                  <a:lnTo>
                    <a:pt x="1261" y="1699"/>
                  </a:lnTo>
                  <a:lnTo>
                    <a:pt x="1261" y="2220"/>
                  </a:lnTo>
                  <a:lnTo>
                    <a:pt x="440" y="2220"/>
                  </a:lnTo>
                  <a:lnTo>
                    <a:pt x="0" y="2220"/>
                  </a:lnTo>
                  <a:lnTo>
                    <a:pt x="0" y="1699"/>
                  </a:lnTo>
                  <a:lnTo>
                    <a:pt x="0" y="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 rot="10800000">
              <a:off x="3664" y="2626"/>
              <a:ext cx="2972" cy="5786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10" h="2666">
                  <a:moveTo>
                    <a:pt x="0" y="0"/>
                  </a:moveTo>
                  <a:lnTo>
                    <a:pt x="343" y="0"/>
                  </a:lnTo>
                  <a:lnTo>
                    <a:pt x="343" y="1167"/>
                  </a:lnTo>
                  <a:lnTo>
                    <a:pt x="667" y="1167"/>
                  </a:lnTo>
                  <a:lnTo>
                    <a:pt x="667" y="1166"/>
                  </a:lnTo>
                  <a:lnTo>
                    <a:pt x="1010" y="1166"/>
                  </a:lnTo>
                  <a:lnTo>
                    <a:pt x="1010" y="2666"/>
                  </a:lnTo>
                  <a:lnTo>
                    <a:pt x="667" y="2666"/>
                  </a:lnTo>
                  <a:lnTo>
                    <a:pt x="667" y="1510"/>
                  </a:lnTo>
                  <a:lnTo>
                    <a:pt x="343" y="1510"/>
                  </a:lnTo>
                  <a:lnTo>
                    <a:pt x="343" y="1511"/>
                  </a:lnTo>
                  <a:lnTo>
                    <a:pt x="0" y="1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34" y="5229"/>
              <a:ext cx="1100" cy="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AA1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354" y="3369"/>
              <a:ext cx="1100" cy="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AA2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526" y="7049"/>
              <a:ext cx="1203" cy="5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AA3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414" y="5229"/>
              <a:ext cx="1298" cy="5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rgbClr val="FF0000"/>
                  </a:solidFill>
                </a:rPr>
                <a:t>PO1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WPS 演示</Application>
  <PresentationFormat>宽屏</PresentationFormat>
  <Paragraphs>115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微眸倾笑</cp:lastModifiedBy>
  <cp:revision>215</cp:revision>
  <dcterms:created xsi:type="dcterms:W3CDTF">2019-06-19T02:08:00Z</dcterms:created>
  <dcterms:modified xsi:type="dcterms:W3CDTF">2025-09-21T13:34:39Z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1BB4A32476E34695AACCF2A21E02D8B3_11</vt:lpwstr>
  </property>
</Properties>
</file>